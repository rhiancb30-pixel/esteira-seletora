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670550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CE7C5DB-CE04-407E-B183-85532DB5379C}">
  <a:tblStyle styleId="{DCE7C5DB-CE04-407E-B183-85532DB5379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A9538D7-3979-4336-9970-BE9F3CC3625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ff91bba4a_2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ff91bba4a_2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ff91bba4a_1_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aff91bba4a_1_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ff91bba4a_1_1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aff91bba4a_1_1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ff91bba4a_1_2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aff91bba4a_1_2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ff91bba4a_3_2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aff91bba4a_3_2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ff91bba4a_2_4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ff91bba4a_2_4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ff91bba4a_2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ff91bba4a_2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ff91bba4a_2_3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ff91bba4a_2_3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ff91bba4a_2_1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ff91bba4a_2_1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ff91bba4a_2_1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ff91bba4a_2_1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ff91bba4a_2_2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ff91bba4a_2_2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ff91bba4a_3_7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ff91bba4a_3_7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ff91bba4a_3_6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aff91bba4a_3_6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ff91bba4a_3_4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aff91bba4a_3_4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ff91bba4a_3_5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aff91bba4a_3_5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ff91bba4a_3_6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aff91bba4a_3_6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360000" y="1944000"/>
            <a:ext cx="9216000" cy="322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subTitle"/>
          </p:nvPr>
        </p:nvSpPr>
        <p:spPr>
          <a:xfrm>
            <a:off x="360000" y="1944000"/>
            <a:ext cx="9216000" cy="322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60000" y="1944000"/>
            <a:ext cx="4497120" cy="322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5082480" y="1944000"/>
            <a:ext cx="4497120" cy="322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1584000" y="709200"/>
            <a:ext cx="7991640" cy="4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360000" y="1944000"/>
            <a:ext cx="449712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5082480" y="1944000"/>
            <a:ext cx="4497120" cy="322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360000" y="3626280"/>
            <a:ext cx="449712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360000" y="1944000"/>
            <a:ext cx="4497120" cy="322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5082480" y="1944000"/>
            <a:ext cx="449712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5082480" y="3626280"/>
            <a:ext cx="449712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360000" y="1944000"/>
            <a:ext cx="449712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5082480" y="1944000"/>
            <a:ext cx="449712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360000" y="3626280"/>
            <a:ext cx="921600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60000" y="1944000"/>
            <a:ext cx="921600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360000" y="3626280"/>
            <a:ext cx="921600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60000" y="1944000"/>
            <a:ext cx="449712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5082480" y="1944000"/>
            <a:ext cx="449712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360000" y="3626280"/>
            <a:ext cx="449712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5082480" y="3626280"/>
            <a:ext cx="449712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60000" y="1944000"/>
            <a:ext cx="296748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3476160" y="1944000"/>
            <a:ext cx="296748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6592320" y="1944000"/>
            <a:ext cx="296748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360000" y="3626280"/>
            <a:ext cx="296748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3476160" y="3626280"/>
            <a:ext cx="296748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body"/>
          </p:nvPr>
        </p:nvSpPr>
        <p:spPr>
          <a:xfrm>
            <a:off x="6592320" y="3626280"/>
            <a:ext cx="2967480" cy="153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0080000" cy="712188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1584000" y="709200"/>
            <a:ext cx="799164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60000" y="1944000"/>
            <a:ext cx="9216000" cy="3220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504000" y="516456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3447360" y="5164560"/>
            <a:ext cx="3195000" cy="39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7227360" y="5164560"/>
            <a:ext cx="2348280" cy="390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hNM2Z4dgxWS4IAD3zLeogR1FrzWckh4E/view" TargetMode="External"/><Relationship Id="rId4" Type="http://schemas.openxmlformats.org/officeDocument/2006/relationships/image" Target="../media/image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968550" y="1462325"/>
            <a:ext cx="8143500" cy="132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rgbClr val="629737"/>
                </a:solidFill>
              </a:rPr>
              <a:t>ESTEIRA SELETORA LINEAR</a:t>
            </a:r>
            <a:endParaRPr b="1" sz="4500">
              <a:solidFill>
                <a:srgbClr val="629737"/>
              </a:solidFill>
            </a:endParaRP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110925" y="3196750"/>
            <a:ext cx="6360000" cy="15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45982F"/>
                </a:solidFill>
              </a:rPr>
              <a:t>Alunos:</a:t>
            </a:r>
            <a:r>
              <a:rPr lang="pt-BR" sz="1400">
                <a:solidFill>
                  <a:srgbClr val="45982F"/>
                </a:solidFill>
              </a:rPr>
              <a:t> Alex Gabriel Claure Escobar, Elisa Klosinski dos Santos,</a:t>
            </a:r>
            <a:endParaRPr sz="1400">
              <a:solidFill>
                <a:srgbClr val="45982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45982F"/>
                </a:solidFill>
              </a:rPr>
              <a:t>Helio Henrique Hinckel Filho e Rhian Eric Cabral Branco</a:t>
            </a:r>
            <a:endParaRPr sz="1400">
              <a:solidFill>
                <a:srgbClr val="45982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5982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45982F"/>
                </a:solidFill>
              </a:rPr>
              <a:t>Unidade Curricular:</a:t>
            </a:r>
            <a:r>
              <a:rPr lang="pt-BR" sz="1400">
                <a:solidFill>
                  <a:srgbClr val="45982F"/>
                </a:solidFill>
              </a:rPr>
              <a:t> Projeto Integrador Eletromecânico</a:t>
            </a:r>
            <a:endParaRPr sz="1400">
              <a:solidFill>
                <a:srgbClr val="45982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45982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45982F"/>
                </a:solidFill>
              </a:rPr>
              <a:t>Professores:</a:t>
            </a:r>
            <a:r>
              <a:rPr lang="pt-BR" sz="1400">
                <a:solidFill>
                  <a:srgbClr val="45982F"/>
                </a:solidFill>
              </a:rPr>
              <a:t> Aurelio da Costa Sabino Netto e Marcos Rodrigues Butignol</a:t>
            </a:r>
            <a:endParaRPr sz="1400">
              <a:solidFill>
                <a:srgbClr val="45982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2169012" y="2361875"/>
            <a:ext cx="574260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INTRODUÇÃO E </a:t>
            </a:r>
            <a:r>
              <a:rPr b="1" lang="pt-BR" sz="3300">
                <a:solidFill>
                  <a:srgbClr val="45982F"/>
                </a:solidFill>
              </a:rPr>
              <a:t>CONTEXTO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9550425" y="5066800"/>
            <a:ext cx="471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1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879650" y="1479075"/>
            <a:ext cx="821580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REQUISITOS DO CLIENTE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879650" y="2425875"/>
            <a:ext cx="6110100" cy="26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>
                <a:solidFill>
                  <a:schemeClr val="dk1"/>
                </a:solidFill>
              </a:rPr>
              <a:t>O curso técnico em Mecatrônica exige recursos didáticos acessíveis para aprendizado prático.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>
                <a:solidFill>
                  <a:schemeClr val="dk1"/>
                </a:solidFill>
              </a:rPr>
              <a:t>Criar uma esteira funcional </a:t>
            </a:r>
            <a:r>
              <a:rPr lang="pt-BR" sz="1300">
                <a:solidFill>
                  <a:schemeClr val="dk1"/>
                </a:solidFill>
              </a:rPr>
              <a:t>voltada para educação efetiva, integrando teoria e prática.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>
                <a:solidFill>
                  <a:schemeClr val="dk1"/>
                </a:solidFill>
              </a:rPr>
              <a:t>Simular a separação de peças de forma realista.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>
                <a:solidFill>
                  <a:schemeClr val="dk1"/>
                </a:solidFill>
              </a:rPr>
              <a:t>Permitir expansão modular, adaptando-se a diferentes necessidades.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>
                <a:solidFill>
                  <a:schemeClr val="dk1"/>
                </a:solidFill>
              </a:rPr>
              <a:t>Facilitar o aprendizado interdisciplinar (mecânica, eletrônica, automação).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9550425" y="5066800"/>
            <a:ext cx="471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2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879650" y="1479075"/>
            <a:ext cx="821580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DIMENSÕES E </a:t>
            </a:r>
            <a:r>
              <a:rPr b="1" lang="pt-BR" sz="3300">
                <a:solidFill>
                  <a:srgbClr val="45982F"/>
                </a:solidFill>
              </a:rPr>
              <a:t>CARACTERÍSTICAS</a:t>
            </a:r>
            <a:r>
              <a:rPr b="1" lang="pt-BR" sz="3300">
                <a:solidFill>
                  <a:srgbClr val="45982F"/>
                </a:solidFill>
              </a:rPr>
              <a:t> DO PROJETO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879650" y="3967150"/>
            <a:ext cx="3502800" cy="1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45982F"/>
                </a:solidFill>
              </a:rPr>
              <a:t>Modularidade</a:t>
            </a:r>
            <a:endParaRPr sz="2000">
              <a:solidFill>
                <a:srgbClr val="45982F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3000"/>
              </a:spcBef>
              <a:spcAft>
                <a:spcPts val="2100"/>
              </a:spcAft>
              <a:buNone/>
            </a:pPr>
            <a:r>
              <a:rPr lang="pt-BR" sz="1300"/>
              <a:t>O design modular permite adaptações e expansões futuras.</a:t>
            </a:r>
            <a:endParaRPr sz="1300"/>
          </a:p>
        </p:txBody>
      </p:sp>
      <p:sp>
        <p:nvSpPr>
          <p:cNvPr id="85" name="Google Shape;85;p17"/>
          <p:cNvSpPr txBox="1"/>
          <p:nvPr/>
        </p:nvSpPr>
        <p:spPr>
          <a:xfrm>
            <a:off x="879650" y="2663200"/>
            <a:ext cx="3502800" cy="1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45982F"/>
                </a:solidFill>
              </a:rPr>
              <a:t>Dimensões Máximas</a:t>
            </a:r>
            <a:endParaRPr sz="2000">
              <a:solidFill>
                <a:srgbClr val="45982F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3000"/>
              </a:spcBef>
              <a:spcAft>
                <a:spcPts val="2100"/>
              </a:spcAft>
              <a:buNone/>
            </a:pPr>
            <a:r>
              <a:rPr lang="pt-BR" sz="1300"/>
              <a:t>O protótipo deve ter dimensões de 800x800x800 mm.</a:t>
            </a:r>
            <a:endParaRPr sz="1300"/>
          </a:p>
        </p:txBody>
      </p:sp>
      <p:sp>
        <p:nvSpPr>
          <p:cNvPr id="86" name="Google Shape;86;p17"/>
          <p:cNvSpPr txBox="1"/>
          <p:nvPr/>
        </p:nvSpPr>
        <p:spPr>
          <a:xfrm>
            <a:off x="5592649" y="2517750"/>
            <a:ext cx="3502800" cy="1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45982F"/>
                </a:solidFill>
              </a:rPr>
              <a:t>Manutenção Fácil</a:t>
            </a:r>
            <a:endParaRPr sz="2000">
              <a:solidFill>
                <a:srgbClr val="45982F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3000"/>
              </a:spcBef>
              <a:spcAft>
                <a:spcPts val="2100"/>
              </a:spcAft>
              <a:buNone/>
            </a:pPr>
            <a:r>
              <a:rPr lang="pt-BR" sz="1300"/>
              <a:t>Estrutura projetada para simplificar o processo de manutenção.</a:t>
            </a:r>
            <a:endParaRPr sz="1300"/>
          </a:p>
        </p:txBody>
      </p:sp>
      <p:sp>
        <p:nvSpPr>
          <p:cNvPr id="87" name="Google Shape;87;p17"/>
          <p:cNvSpPr txBox="1"/>
          <p:nvPr/>
        </p:nvSpPr>
        <p:spPr>
          <a:xfrm>
            <a:off x="5592649" y="3967125"/>
            <a:ext cx="3502800" cy="13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45982F"/>
                </a:solidFill>
              </a:rPr>
              <a:t>Custo Baixo</a:t>
            </a:r>
            <a:endParaRPr sz="2000">
              <a:solidFill>
                <a:srgbClr val="45982F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3000"/>
              </a:spcBef>
              <a:spcAft>
                <a:spcPts val="2100"/>
              </a:spcAft>
              <a:buNone/>
            </a:pPr>
            <a:r>
              <a:rPr lang="pt-BR" sz="1300"/>
              <a:t>O projeto foi desenvolvido para ser acessível financeiramente.</a:t>
            </a:r>
            <a:endParaRPr sz="1300"/>
          </a:p>
        </p:txBody>
      </p:sp>
      <p:sp>
        <p:nvSpPr>
          <p:cNvPr id="88" name="Google Shape;88;p17"/>
          <p:cNvSpPr txBox="1"/>
          <p:nvPr/>
        </p:nvSpPr>
        <p:spPr>
          <a:xfrm>
            <a:off x="9550425" y="5066800"/>
            <a:ext cx="471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3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" name="Google Shape;93;p18"/>
          <p:cNvGraphicFramePr/>
          <p:nvPr/>
        </p:nvGraphicFramePr>
        <p:xfrm>
          <a:off x="2591663" y="245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{DCE7C5DB-CE04-407E-B183-85532DB5379C}</a:tableStyleId>
              </a:tblPr>
              <a:tblGrid>
                <a:gridCol w="2448650"/>
                <a:gridCol w="2448650"/>
              </a:tblGrid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Componente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/>
                        <a:t>Valores</a:t>
                      </a:r>
                      <a:endParaRPr b="1" sz="1300"/>
                    </a:p>
                  </a:txBody>
                  <a:tcPr marT="19050" marB="19050" marR="28575" marL="28575" anchor="b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Servo Motor - SG90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R$ 19,00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Sensor capacitivo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R$ 70,97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Driver de motor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R$ 15,00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Polia GT2 20t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R$ 23,90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Polia GT2 40t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R$ 23,90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7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Correia GT2 6mm com passo 2mm - Alma de aço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R$ 7,90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Motor de Passo - NEMA17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R$ 45,92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Shield DNMEB50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R$ 176,99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Soma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/>
                        <a:t>R$ 383,58</a:t>
                      </a:r>
                      <a:endParaRPr sz="1300"/>
                    </a:p>
                  </a:txBody>
                  <a:tcPr marT="19050" marB="19050" marR="28575" marL="28575" anchor="ctr">
                    <a:lnL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" name="Google Shape;94;p18"/>
          <p:cNvSpPr txBox="1"/>
          <p:nvPr/>
        </p:nvSpPr>
        <p:spPr>
          <a:xfrm>
            <a:off x="1837811" y="1212825"/>
            <a:ext cx="640500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CUSTOS GERAIS DO PROJETO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9550425" y="5066800"/>
            <a:ext cx="471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4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2638512" y="2361875"/>
            <a:ext cx="4803600" cy="946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ETAPAS DO PROJETO</a:t>
            </a:r>
            <a:endParaRPr b="1" sz="3300">
              <a:solidFill>
                <a:srgbClr val="45982F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9550425" y="5066800"/>
            <a:ext cx="471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5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1584000" y="638525"/>
            <a:ext cx="7991700" cy="946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CAD - </a:t>
            </a:r>
            <a:r>
              <a:rPr b="1" lang="pt-BR" sz="3300">
                <a:solidFill>
                  <a:srgbClr val="45982F"/>
                </a:solidFill>
              </a:rPr>
              <a:t>ESTEIRA</a:t>
            </a:r>
            <a:endParaRPr b="1" sz="3300">
              <a:solidFill>
                <a:srgbClr val="45982F"/>
              </a:solidFill>
            </a:endParaRPr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534" y="1656000"/>
            <a:ext cx="5129466" cy="372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 rotWithShape="1">
          <a:blip r:embed="rId4">
            <a:alphaModFix/>
          </a:blip>
          <a:srcRect b="3891" l="8941" r="5733" t="3891"/>
          <a:stretch/>
        </p:blipFill>
        <p:spPr>
          <a:xfrm>
            <a:off x="251325" y="1365075"/>
            <a:ext cx="4453201" cy="4109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/>
        </p:nvSpPr>
        <p:spPr>
          <a:xfrm>
            <a:off x="9550425" y="5066800"/>
            <a:ext cx="471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6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1558725" y="607100"/>
            <a:ext cx="7991700" cy="946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CAD </a:t>
            </a:r>
            <a:r>
              <a:rPr b="1" lang="pt-BR" sz="3300">
                <a:solidFill>
                  <a:srgbClr val="45982F"/>
                </a:solidFill>
              </a:rPr>
              <a:t>- CAIXA</a:t>
            </a:r>
            <a:endParaRPr b="1" sz="3300">
              <a:solidFill>
                <a:srgbClr val="45982F"/>
              </a:solidFill>
            </a:endParaRPr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700" y="1651338"/>
            <a:ext cx="4422501" cy="34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0775" y="1595300"/>
            <a:ext cx="4465049" cy="357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9550425" y="5066800"/>
            <a:ext cx="471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7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82275" y="634275"/>
            <a:ext cx="8653800" cy="946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MATERIAIS E PROCESSO DE FABRICAÇÃO</a:t>
            </a:r>
            <a:endParaRPr b="1" sz="3300">
              <a:solidFill>
                <a:srgbClr val="45982F"/>
              </a:solidFill>
            </a:endParaRPr>
          </a:p>
        </p:txBody>
      </p:sp>
      <p:graphicFrame>
        <p:nvGraphicFramePr>
          <p:cNvPr id="123" name="Google Shape;123;p22"/>
          <p:cNvGraphicFramePr/>
          <p:nvPr/>
        </p:nvGraphicFramePr>
        <p:xfrm>
          <a:off x="1832150" y="176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{6A9538D7-3979-4336-9970-BE9F3CC36254}</a:tableStyleId>
              </a:tblPr>
              <a:tblGrid>
                <a:gridCol w="2016125"/>
                <a:gridCol w="2016125"/>
                <a:gridCol w="2384075"/>
              </a:tblGrid>
              <a:tr h="42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Partes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Material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Processo de fabricação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2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Estrutura Principal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Acrílico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Corte a laser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Estrutura da Caixa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Acrílico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Corte a laser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Suporte de Fixação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ABS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Impressão 3D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Separador de metais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ABS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Impressão 3D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Rolete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ABS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Impressão 3D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Cantoneiras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ABS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Impressão 3D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Suporte de fixação do servomotor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ABS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Impressão 3D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Eixo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Alumínio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Torneamento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3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Base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Alumínio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Serragem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4" name="Google Shape;124;p22"/>
          <p:cNvSpPr txBox="1"/>
          <p:nvPr/>
        </p:nvSpPr>
        <p:spPr>
          <a:xfrm>
            <a:off x="9550425" y="5066800"/>
            <a:ext cx="471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8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1044463" y="709200"/>
            <a:ext cx="7991700" cy="946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CIRCUITO ELÉTRICO</a:t>
            </a:r>
            <a:endParaRPr b="1" sz="3300">
              <a:solidFill>
                <a:srgbClr val="45982F"/>
              </a:solidFill>
            </a:endParaRPr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3288" y="1656000"/>
            <a:ext cx="7912100" cy="392324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/>
        </p:nvSpPr>
        <p:spPr>
          <a:xfrm>
            <a:off x="9550425" y="5066800"/>
            <a:ext cx="471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9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1044463" y="725850"/>
            <a:ext cx="7991700" cy="946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COMPONENTES UTILIZADOS</a:t>
            </a:r>
            <a:endParaRPr b="1" sz="3300">
              <a:solidFill>
                <a:srgbClr val="45982F"/>
              </a:solidFill>
            </a:endParaRPr>
          </a:p>
        </p:txBody>
      </p:sp>
      <p:graphicFrame>
        <p:nvGraphicFramePr>
          <p:cNvPr id="137" name="Google Shape;137;p24"/>
          <p:cNvGraphicFramePr/>
          <p:nvPr/>
        </p:nvGraphicFramePr>
        <p:xfrm>
          <a:off x="2315113" y="207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{6A9538D7-3979-4336-9970-BE9F3CC36254}</a:tableStyleId>
              </a:tblPr>
              <a:tblGrid>
                <a:gridCol w="2725200"/>
                <a:gridCol w="2725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 x Arduino Mega 2560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 x LCD I2C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2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 x Sensor Indutivo NPN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3 x Botões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 x Sensor Capacitivo NPN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 x Driver A4988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 x Motor de passo NEMA17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 2 x Resistor 10000Ω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 x </a:t>
                      </a:r>
                      <a:r>
                        <a:rPr lang="pt-BR"/>
                        <a:t>Servo Motor</a:t>
                      </a:r>
                      <a:r>
                        <a:rPr lang="pt-BR"/>
                        <a:t> SG90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 2 x Capacitor </a:t>
                      </a:r>
                      <a:r>
                        <a:rPr lang="pt-BR"/>
                        <a:t>10uF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</a:t>
                      </a:r>
                      <a:r>
                        <a:rPr lang="pt-BR"/>
                        <a:t> x Fonte de alimentação 12V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 1 x Regulador de </a:t>
                      </a:r>
                      <a:r>
                        <a:rPr lang="pt-BR"/>
                        <a:t>tensão 12~5v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8" name="Google Shape;138;p24"/>
          <p:cNvSpPr txBox="1"/>
          <p:nvPr/>
        </p:nvSpPr>
        <p:spPr>
          <a:xfrm>
            <a:off x="9550425" y="5066800"/>
            <a:ext cx="471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10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1044463" y="725850"/>
            <a:ext cx="7991700" cy="946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PROGRAMAÇÃO</a:t>
            </a:r>
            <a:endParaRPr b="1" sz="3300">
              <a:solidFill>
                <a:srgbClr val="45982F"/>
              </a:solidFill>
            </a:endParaRPr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0413" y="1672650"/>
            <a:ext cx="6019800" cy="2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5"/>
          <p:cNvSpPr txBox="1"/>
          <p:nvPr/>
        </p:nvSpPr>
        <p:spPr>
          <a:xfrm>
            <a:off x="9550425" y="5066800"/>
            <a:ext cx="471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11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/>
        </p:nvSpPr>
        <p:spPr>
          <a:xfrm>
            <a:off x="1717713" y="728250"/>
            <a:ext cx="705360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RESULTADO E FUNCIONAMENTO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26" title="20251215_13224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9575" y="1493825"/>
            <a:ext cx="4186148" cy="3956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6"/>
          <p:cNvSpPr txBox="1"/>
          <p:nvPr/>
        </p:nvSpPr>
        <p:spPr>
          <a:xfrm>
            <a:off x="9550425" y="5066800"/>
            <a:ext cx="471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12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/>
        </p:nvSpPr>
        <p:spPr>
          <a:xfrm>
            <a:off x="2005823" y="791100"/>
            <a:ext cx="606900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CONCLUSÃO E MELHORIAS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7" title="video esteira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7226" y="1588600"/>
            <a:ext cx="6906173" cy="38559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7"/>
          <p:cNvSpPr txBox="1"/>
          <p:nvPr/>
        </p:nvSpPr>
        <p:spPr>
          <a:xfrm>
            <a:off x="9550425" y="5066800"/>
            <a:ext cx="471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13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/>
        </p:nvSpPr>
        <p:spPr>
          <a:xfrm>
            <a:off x="879650" y="1479075"/>
            <a:ext cx="821580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pt-BR" sz="3300">
                <a:solidFill>
                  <a:srgbClr val="45982F"/>
                </a:solidFill>
              </a:rPr>
              <a:t>CONSIDERAÇÕES FINAIS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879650" y="2425875"/>
            <a:ext cx="8126100" cy="26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36000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A esteira foi projetada para ser melhorada após a conclusão, e como possíveis projetos e adições na mesma, serão sugeridos as seguintes formas: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>
                <a:solidFill>
                  <a:schemeClr val="dk1"/>
                </a:solidFill>
              </a:rPr>
              <a:t>Sensor de cor integrado junto com mais opções de separações;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pt-BR" sz="1300">
                <a:solidFill>
                  <a:schemeClr val="dk1"/>
                </a:solidFill>
              </a:rPr>
              <a:t>Sistema de visão.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300">
                <a:solidFill>
                  <a:schemeClr val="dk1"/>
                </a:solidFill>
              </a:rPr>
              <a:t>	Em geral, o desenvolvimento do projeto foi de forma proveitosa, utilizando os recursos do IFSC para diminuir os cursos, e foram pensados em soluções para agregar o maior valor para os alunos do técnico, sem utilizar sensores ou componentes mais complexos.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9550425" y="5066800"/>
            <a:ext cx="471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14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/>
        </p:nvSpPr>
        <p:spPr>
          <a:xfrm>
            <a:off x="2005811" y="2361875"/>
            <a:ext cx="6069000" cy="9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300">
                <a:solidFill>
                  <a:srgbClr val="45982F"/>
                </a:solidFill>
              </a:rPr>
              <a:t>OBRIGADO!</a:t>
            </a:r>
            <a:endParaRPr b="1" i="0" sz="3300" u="none" cap="none" strike="noStrike">
              <a:solidFill>
                <a:srgbClr val="45982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